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8" r:id="rId4"/>
  </p:sldMasterIdLst>
  <p:notesMasterIdLst>
    <p:notesMasterId r:id="rId18"/>
  </p:notesMasterIdLst>
  <p:handoutMasterIdLst>
    <p:handoutMasterId r:id="rId19"/>
  </p:handoutMasterIdLst>
  <p:sldIdLst>
    <p:sldId id="256" r:id="rId5"/>
    <p:sldId id="257" r:id="rId6"/>
    <p:sldId id="258" r:id="rId7"/>
    <p:sldId id="259" r:id="rId8"/>
    <p:sldId id="265" r:id="rId9"/>
    <p:sldId id="267" r:id="rId10"/>
    <p:sldId id="260" r:id="rId11"/>
    <p:sldId id="261" r:id="rId12"/>
    <p:sldId id="262" r:id="rId13"/>
    <p:sldId id="263" r:id="rId14"/>
    <p:sldId id="264" r:id="rId15"/>
    <p:sldId id="268" r:id="rId16"/>
    <p:sldId id="266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8A107856-5554-42FB-B03E-39F5DBC370B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548" autoAdjust="0"/>
    <p:restoredTop sz="96327" autoAdjust="0"/>
  </p:normalViewPr>
  <p:slideViewPr>
    <p:cSldViewPr snapToGrid="0">
      <p:cViewPr varScale="1">
        <p:scale>
          <a:sx n="85" d="100"/>
          <a:sy n="85" d="100"/>
        </p:scale>
        <p:origin x="355" y="67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howGuides="1">
      <p:cViewPr varScale="1">
        <p:scale>
          <a:sx n="58" d="100"/>
          <a:sy n="58" d="100"/>
        </p:scale>
        <p:origin x="3240" y="6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F6756E-81DA-9FAC-70D8-556F658BDDA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BEDD12-BCD5-485B-BCBC-34BB01D7923C}" type="datetimeFigureOut">
              <a:rPr lang="en-US" smtClean="0"/>
              <a:t>12/29/2025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71D415-D05A-7067-CCD3-457153D96CD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C230DF-5933-439D-898F-38E9AC9BA68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97095E3-54D2-CFD2-4F49-7536FC8641D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8" name="Header Placeholder 7">
            <a:extLst>
              <a:ext uri="{FF2B5EF4-FFF2-40B4-BE49-F238E27FC236}">
                <a16:creationId xmlns:a16="http://schemas.microsoft.com/office/drawing/2014/main" id="{521EE01A-C0B5-5ECF-96DD-768F86AA15C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32284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E7A52F-9D89-7442-A8E9-48D1527B5F6B}" type="datetimeFigureOut">
              <a:rPr lang="en-US" smtClean="0"/>
              <a:t>12/29/2025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9C7E07-3C67-C64C-8DA0-0404F630397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25283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1327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806C6F65-35CD-D64B-992A-0C1C1E003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7" name="AutoShape 24">
              <a:extLst>
                <a:ext uri="{FF2B5EF4-FFF2-40B4-BE49-F238E27FC236}">
                  <a16:creationId xmlns:a16="http://schemas.microsoft.com/office/drawing/2014/main" id="{CFD467E2-FF13-7E4F-BEF9-EA1A17665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CA85A327-3157-B442-993A-6900F71249AC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9A459CB4-74AF-0544-AB1E-7CC6D10F84E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95A20BFD-9142-D64A-A78A-61B75FCA0D7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B80736DF-C890-DB47-AEAA-D3D92505E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2" name="Title 1">
            <a:extLst>
              <a:ext uri="{FF2B5EF4-FFF2-40B4-BE49-F238E27FC236}">
                <a16:creationId xmlns:a16="http://schemas.microsoft.com/office/drawing/2014/main" id="{39F93F26-ED5C-E74E-BFBD-E3054DC1B9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89572"/>
            <a:ext cx="6787747" cy="159350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 spc="50" baseline="0"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186153BD-9D2B-47EB-3553-1D3F6663B2A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4359" y="2281918"/>
            <a:ext cx="6787747" cy="3708517"/>
          </a:xfrm>
        </p:spPr>
        <p:txBody>
          <a:bodyPr lIns="0" tIns="228600" rIns="0" bIns="0">
            <a:normAutofit/>
          </a:bodyPr>
          <a:lstStyle>
            <a:lvl1pPr marL="283464" indent="-283464">
              <a:lnSpc>
                <a:spcPct val="80000"/>
              </a:lnSpc>
              <a:spcBef>
                <a:spcPts val="2200"/>
              </a:spcBef>
              <a:buFont typeface="Arial" panose="020B0604020202020204" pitchFamily="34" charset="0"/>
              <a:buChar char="•"/>
              <a:defRPr lang="en-US" sz="2400" b="1" i="0" kern="1200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indent="-283464">
              <a:spcBef>
                <a:spcPts val="6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3" name="Slide Number Placeholder 42">
            <a:extLst>
              <a:ext uri="{FF2B5EF4-FFF2-40B4-BE49-F238E27FC236}">
                <a16:creationId xmlns:a16="http://schemas.microsoft.com/office/drawing/2014/main" id="{D80CCC8F-9CF1-9621-04EB-DFA68FEE42D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42" name="Date Placeholder 41">
            <a:extLst>
              <a:ext uri="{FF2B5EF4-FFF2-40B4-BE49-F238E27FC236}">
                <a16:creationId xmlns:a16="http://schemas.microsoft.com/office/drawing/2014/main" id="{29CE2856-DB8F-5603-C085-74C70560FAC8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79826C1-7A52-DA25-F422-EE62DED7D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0552" cy="0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8089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79D0555-EBDC-B53A-212D-A5921795FE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80543"/>
          </a:xfrm>
          <a:custGeom>
            <a:avLst/>
            <a:gdLst>
              <a:gd name="connsiteX0" fmla="*/ 6309360 w 12192000"/>
              <a:gd name="connsiteY0" fmla="*/ 3951843 h 6880543"/>
              <a:gd name="connsiteX1" fmla="*/ 6309360 w 12192000"/>
              <a:gd name="connsiteY1" fmla="*/ 4052427 h 6880543"/>
              <a:gd name="connsiteX2" fmla="*/ 8442960 w 12192000"/>
              <a:gd name="connsiteY2" fmla="*/ 4052427 h 6880543"/>
              <a:gd name="connsiteX3" fmla="*/ 8442960 w 12192000"/>
              <a:gd name="connsiteY3" fmla="*/ 3951843 h 6880543"/>
              <a:gd name="connsiteX4" fmla="*/ 0 w 12192000"/>
              <a:gd name="connsiteY4" fmla="*/ 0 h 6880543"/>
              <a:gd name="connsiteX5" fmla="*/ 12192000 w 12192000"/>
              <a:gd name="connsiteY5" fmla="*/ 0 h 6880543"/>
              <a:gd name="connsiteX6" fmla="*/ 12192000 w 12192000"/>
              <a:gd name="connsiteY6" fmla="*/ 6880543 h 6880543"/>
              <a:gd name="connsiteX7" fmla="*/ 0 w 12192000"/>
              <a:gd name="connsiteY7" fmla="*/ 6880543 h 6880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80543">
                <a:moveTo>
                  <a:pt x="6309360" y="3951843"/>
                </a:moveTo>
                <a:lnTo>
                  <a:pt x="6309360" y="4052427"/>
                </a:lnTo>
                <a:lnTo>
                  <a:pt x="8442960" y="4052427"/>
                </a:lnTo>
                <a:lnTo>
                  <a:pt x="8442960" y="3951843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80543"/>
                </a:lnTo>
                <a:lnTo>
                  <a:pt x="0" y="6880543"/>
                </a:lnTo>
                <a:close/>
              </a:path>
            </a:pathLst>
          </a:custGeom>
        </p:spPr>
        <p:txBody>
          <a:bodyPr wrap="square" tIns="182880">
            <a:no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8D492973-78E3-D34E-835E-CF2D451701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9359" y="444933"/>
            <a:ext cx="5477479" cy="329184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60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6BA398-1ED2-1FCA-63B9-8915A8C7A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09360" y="3951843"/>
            <a:ext cx="2133600" cy="10058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91695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104">
          <p15:clr>
            <a:srgbClr val="FBAE40"/>
          </p15:clr>
        </p15:guide>
        <p15:guide id="3" pos="4344" userDrawn="1">
          <p15:clr>
            <a:srgbClr val="FBAE40"/>
          </p15:clr>
        </p15:guide>
        <p15:guide id="4" pos="4560" userDrawn="1">
          <p15:clr>
            <a:srgbClr val="FBAE40"/>
          </p15:clr>
        </p15:guide>
        <p15:guide id="8" orient="horz" pos="1848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99835" y="43052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A9973BC6-F6E5-0B3B-C8AB-0AC4020D4E8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-11113"/>
            <a:ext cx="5791200" cy="6880226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99835" y="456860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9169ED6-4B82-6844-119F-AC15CDF2D3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7914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57F1500-1A16-D1EF-4F0C-030852B291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2D07A0BE-3890-193E-9439-F294E61A71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11" name="Freeform 19">
              <a:extLst>
                <a:ext uri="{FF2B5EF4-FFF2-40B4-BE49-F238E27FC236}">
                  <a16:creationId xmlns:a16="http://schemas.microsoft.com/office/drawing/2014/main" id="{C05217ED-C258-E6CE-BA7F-28A6EA41BCD3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20">
              <a:extLst>
                <a:ext uri="{FF2B5EF4-FFF2-40B4-BE49-F238E27FC236}">
                  <a16:creationId xmlns:a16="http://schemas.microsoft.com/office/drawing/2014/main" id="{F3E11A1F-14DD-BA35-D7D7-4D4ADEAA348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21">
              <a:extLst>
                <a:ext uri="{FF2B5EF4-FFF2-40B4-BE49-F238E27FC236}">
                  <a16:creationId xmlns:a16="http://schemas.microsoft.com/office/drawing/2014/main" id="{F14541B0-973F-7E21-1019-D2FB83C8C0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32" name="Title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02875"/>
            <a:ext cx="10873740" cy="168020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6FE0DC0-B0D7-F4D6-8038-177AD7A8C21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57600" y="2282008"/>
            <a:ext cx="7810500" cy="3699328"/>
          </a:xfrm>
        </p:spPr>
        <p:txBody>
          <a:bodyPr lIns="0" tIns="228600" rIns="0" bIns="0">
            <a:normAutofit/>
          </a:bodyPr>
          <a:lstStyle>
            <a:lvl1pPr marL="283464" indent="-283464">
              <a:spcBef>
                <a:spcPts val="1800"/>
              </a:spcBef>
              <a:buFont typeface="Arial" panose="020B0604020202020204" pitchFamily="34" charset="0"/>
              <a:buChar char="•"/>
              <a:defRPr sz="2000"/>
            </a:lvl1pPr>
            <a:lvl2pPr indent="-283464">
              <a:spcBef>
                <a:spcPts val="18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ED58739-4346-5104-B1AC-89ED035912A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272B8D-F380-9F1A-C8E6-BDD2352B1763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029641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09905" y="454955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027108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78129"/>
            <a:ext cx="9778365" cy="149459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14DA3C5-63E4-BAFB-1D68-47F71EEEE53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676525"/>
            <a:ext cx="4490827" cy="3597470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9436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BD11386D-847E-8CF5-E56A-42E80A65A08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881898" y="2676525"/>
            <a:ext cx="4490827" cy="3597470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4864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10569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42E558A9-6DD6-E21D-3A8F-6707E1DD1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12" name="AutoShape 24">
              <a:extLst>
                <a:ext uri="{FF2B5EF4-FFF2-40B4-BE49-F238E27FC236}">
                  <a16:creationId xmlns:a16="http://schemas.microsoft.com/office/drawing/2014/main" id="{3FC994E4-318C-1E66-B4E4-8F8FD08E098F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17C00E6B-F625-6D6C-8364-9DD9F3C3628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C6197B87-4F65-7981-9463-84830CD3687F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86AA517C-7217-D864-B7E7-40984A2880D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524013C6-491C-CAA2-5BD6-7C73596711CC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8885" y="3499667"/>
            <a:ext cx="4939666" cy="254281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47460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457201"/>
            <a:ext cx="5198269" cy="2305050"/>
          </a:xfrm>
        </p:spPr>
        <p:txBody>
          <a:bodyPr lIns="0" tIns="274320">
            <a:normAutofit/>
          </a:bodyPr>
          <a:lstStyle>
            <a:lvl1pPr marL="457200" indent="-457200">
              <a:spcBef>
                <a:spcPts val="1800"/>
              </a:spcBef>
              <a:buFont typeface="+mj-lt"/>
              <a:buAutoNum type="arabicPeriod"/>
              <a:defRPr sz="2000"/>
            </a:lvl1pPr>
            <a:lvl2pPr marL="914400" indent="-457200">
              <a:spcBef>
                <a:spcPts val="1800"/>
              </a:spcBef>
              <a:buFont typeface="+mj-lt"/>
              <a:buAutoNum type="alphaLcPeriod"/>
              <a:defRPr sz="2000"/>
            </a:lvl2pPr>
            <a:lvl3pPr marL="1371600" indent="-457200">
              <a:spcBef>
                <a:spcPts val="1800"/>
              </a:spcBef>
              <a:buFont typeface="+mj-lt"/>
              <a:buAutoNum type="arabicParenR"/>
              <a:defRPr sz="2000"/>
            </a:lvl3pPr>
            <a:lvl4pPr marL="1371600" indent="0">
              <a:spcBef>
                <a:spcPts val="1800"/>
              </a:spcBef>
              <a:buFont typeface="+mj-lt"/>
              <a:buNone/>
              <a:defRPr sz="2000"/>
            </a:lvl4pPr>
            <a:lvl5pPr marL="2286000" indent="-457200">
              <a:spcBef>
                <a:spcPts val="1800"/>
              </a:spcBef>
              <a:buFont typeface="+mj-lt"/>
              <a:buAutoNum type="arabicPeriod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endParaRPr lang="en-US" dirty="0"/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3AC171DA-232D-44C1-6B93-40BACB298F4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810595"/>
            <a:ext cx="5198269" cy="3319513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4864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546068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Pictu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5310" y="278129"/>
            <a:ext cx="5063490" cy="235402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1EF4505D-6803-3813-7738-04996342781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94360" y="3279579"/>
            <a:ext cx="5044440" cy="2994415"/>
          </a:xfrm>
        </p:spPr>
        <p:txBody>
          <a:bodyPr lIns="0" tIns="22860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indent="-283464">
              <a:spcBef>
                <a:spcPts val="18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997459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658637A-5D36-6127-19BC-C203E23FA49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118225" cy="68580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293197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CF555767-B3D8-BD57-1D42-7F6E1E668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9" name="Freeform 13">
              <a:extLst>
                <a:ext uri="{FF2B5EF4-FFF2-40B4-BE49-F238E27FC236}">
                  <a16:creationId xmlns:a16="http://schemas.microsoft.com/office/drawing/2014/main" id="{BC972B6D-098C-52F6-E990-52623B368FB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3F0D3EE3-9A8C-531D-1EEE-1AFAB9F3BCA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7" name="Freeform 15">
              <a:extLst>
                <a:ext uri="{FF2B5EF4-FFF2-40B4-BE49-F238E27FC236}">
                  <a16:creationId xmlns:a16="http://schemas.microsoft.com/office/drawing/2014/main" id="{A2BE192C-1768-890B-EC1B-5ED6E1F825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61409" y="4661717"/>
            <a:ext cx="7936230" cy="138076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670935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584005"/>
            <a:ext cx="2825115" cy="3999060"/>
          </a:xfrm>
        </p:spPr>
        <p:txBody>
          <a:bodyPr lIns="0" tIns="27432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457200" indent="0">
              <a:spcBef>
                <a:spcPts val="1800"/>
              </a:spcBef>
              <a:buNone/>
              <a:defRPr sz="2000"/>
            </a:lvl2pPr>
            <a:lvl3pPr marL="914400" indent="0">
              <a:spcBef>
                <a:spcPts val="1800"/>
              </a:spcBef>
              <a:buNone/>
              <a:defRPr sz="2000"/>
            </a:lvl3pPr>
            <a:lvl4pPr marL="1371600" indent="0">
              <a:spcBef>
                <a:spcPts val="1800"/>
              </a:spcBef>
              <a:buNone/>
              <a:defRPr sz="2000"/>
            </a:lvl4pPr>
            <a:lvl5pPr marL="1828800" indent="0">
              <a:spcBef>
                <a:spcPts val="1800"/>
              </a:spcBef>
              <a:buNone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70934" y="584005"/>
            <a:ext cx="7926705" cy="3999060"/>
          </a:xfrm>
        </p:spPr>
        <p:txBody>
          <a:bodyPr lIns="0">
            <a:normAutofit/>
          </a:bodyPr>
          <a:lstStyle>
            <a:lvl1pPr marL="0" indent="0">
              <a:spcBef>
                <a:spcPts val="1800"/>
              </a:spcBef>
              <a:buNone/>
              <a:defRPr sz="2000"/>
            </a:lvl1pPr>
            <a:lvl2pPr>
              <a:spcBef>
                <a:spcPts val="6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443291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98408"/>
            <a:ext cx="10972800" cy="157431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5523" y="2676525"/>
            <a:ext cx="5746750" cy="3597470"/>
          </a:xfrm>
        </p:spPr>
        <p:txBody>
          <a:bodyPr lIns="0">
            <a:normAutofit/>
          </a:bodyPr>
          <a:lstStyle>
            <a:lvl1pPr marL="0" indent="0">
              <a:spcBef>
                <a:spcPts val="1800"/>
              </a:spcBef>
              <a:buNone/>
              <a:defRPr sz="2000"/>
            </a:lvl1pPr>
            <a:lvl2pPr>
              <a:spcBef>
                <a:spcPts val="6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620000" y="2676525"/>
            <a:ext cx="3947160" cy="3597470"/>
          </a:xfrm>
        </p:spPr>
        <p:txBody>
          <a:bodyPr lIns="0">
            <a:normAutofit/>
          </a:bodyPr>
          <a:lstStyle>
            <a:lvl1pPr marL="342900" indent="-342900">
              <a:spcBef>
                <a:spcPts val="1800"/>
              </a:spcBef>
              <a:buFont typeface="Arial" panose="020B0604020202020204" pitchFamily="34" charset="0"/>
              <a:buChar char="•"/>
              <a:defRPr sz="2000"/>
            </a:lvl1pPr>
            <a:lvl2pPr>
              <a:spcBef>
                <a:spcPts val="18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49744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02400"/>
            <a:ext cx="10972800" cy="157032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B84CEF-A9B2-F415-95E9-34A3E1033F8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4360" y="2329961"/>
            <a:ext cx="11051680" cy="38015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04109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4360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flipH="1" flipV="1">
            <a:off x="6092752" y="0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4360" y="454955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8B149C6-5AAC-B8E5-5411-EA38821F67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9273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ED84C6-50E6-6C43-8031-AFF6268E0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360" y="1825625"/>
            <a:ext cx="103822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itle Placeholder 11">
            <a:extLst>
              <a:ext uri="{FF2B5EF4-FFF2-40B4-BE49-F238E27FC236}">
                <a16:creationId xmlns:a16="http://schemas.microsoft.com/office/drawing/2014/main" id="{D41FC0AE-253D-D242-9C88-017078F8A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365125"/>
            <a:ext cx="104013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0" name="Date Placeholder 3">
            <a:extLst>
              <a:ext uri="{FF2B5EF4-FFF2-40B4-BE49-F238E27FC236}">
                <a16:creationId xmlns:a16="http://schemas.microsoft.com/office/drawing/2014/main" id="{EF47083A-6D76-4B4D-87CA-E08E212F7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33648" y="6332220"/>
            <a:ext cx="131318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endParaRPr lang="en-US" dirty="0">
              <a:latin typeface="+mn-lt"/>
            </a:endParaRPr>
          </a:p>
        </p:txBody>
      </p:sp>
      <p:sp>
        <p:nvSpPr>
          <p:cNvPr id="32" name="Slide Number Placeholder 5">
            <a:extLst>
              <a:ext uri="{FF2B5EF4-FFF2-40B4-BE49-F238E27FC236}">
                <a16:creationId xmlns:a16="http://schemas.microsoft.com/office/drawing/2014/main" id="{C8ADA0DF-3751-9A48-8A21-59F01C782D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4360" y="6332220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1" i="0">
                <a:solidFill>
                  <a:schemeClr val="bg1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58922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1" r:id="rId1"/>
    <p:sldLayoutId id="2147483698" r:id="rId2"/>
    <p:sldLayoutId id="2147483710" r:id="rId3"/>
    <p:sldLayoutId id="2147483700" r:id="rId4"/>
    <p:sldLayoutId id="2147483701" r:id="rId5"/>
    <p:sldLayoutId id="2147483659" r:id="rId6"/>
    <p:sldLayoutId id="2147483709" r:id="rId7"/>
    <p:sldLayoutId id="2147483708" r:id="rId8"/>
    <p:sldLayoutId id="2147483707" r:id="rId9"/>
    <p:sldLayoutId id="2147483706" r:id="rId10"/>
    <p:sldLayoutId id="2147483705" r:id="rId11"/>
    <p:sldLayoutId id="2147483704" r:id="rId12"/>
    <p:sldLayoutId id="2147483703" r:id="rId13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b="1" i="0" kern="1200" spc="100" baseline="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283464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600" userDrawn="1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  <p15:guide id="17" pos="39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87616" y="1157927"/>
            <a:ext cx="6232849" cy="680202"/>
          </a:xfrm>
        </p:spPr>
        <p:txBody>
          <a:bodyPr/>
          <a:lstStyle/>
          <a:p>
            <a:r>
              <a:rPr sz="3600" dirty="0">
                <a:solidFill>
                  <a:srgbClr val="FF0000"/>
                </a:solidFill>
              </a:rPr>
              <a:t>Zomato</a:t>
            </a:r>
            <a:r>
              <a:rPr sz="3600" dirty="0"/>
              <a:t> Restaurant</a:t>
            </a:r>
            <a:r>
              <a:rPr lang="en-US" sz="3600" dirty="0"/>
              <a:t>s</a:t>
            </a:r>
            <a:r>
              <a:rPr sz="3600" dirty="0"/>
              <a:t> Analysis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D6F622-C24F-69C3-7694-C758D27E7396}"/>
              </a:ext>
            </a:extLst>
          </p:cNvPr>
          <p:cNvSpPr txBox="1"/>
          <p:nvPr/>
        </p:nvSpPr>
        <p:spPr>
          <a:xfrm>
            <a:off x="6206918" y="2616960"/>
            <a:ext cx="3733330" cy="12772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>
              <a:spcAft>
                <a:spcPts val="600"/>
              </a:spcAft>
            </a:pPr>
            <a:r>
              <a:rPr lang="en-US" sz="2800" b="1" dirty="0">
                <a:solidFill>
                  <a:schemeClr val="bg1"/>
                </a:solidFill>
              </a:rPr>
              <a:t>By: </a:t>
            </a:r>
          </a:p>
          <a:p>
            <a:pPr algn="just">
              <a:spcAft>
                <a:spcPts val="400"/>
              </a:spcAft>
            </a:pPr>
            <a:r>
              <a:rPr lang="en-US" sz="4400" b="1" dirty="0">
                <a:solidFill>
                  <a:schemeClr val="bg1"/>
                </a:solidFill>
              </a:rPr>
              <a:t>Akhilesh Yadav</a:t>
            </a:r>
            <a:endParaRPr lang="en-IN" sz="44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1222310"/>
            <a:ext cx="6787747" cy="560769"/>
          </a:xfrm>
        </p:spPr>
        <p:txBody>
          <a:bodyPr/>
          <a:lstStyle/>
          <a:p>
            <a:r>
              <a:rPr sz="3200" dirty="0"/>
              <a:t>Presentation 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594359" y="2281918"/>
            <a:ext cx="6787747" cy="4378858"/>
          </a:xfrm>
        </p:spPr>
        <p:txBody>
          <a:bodyPr>
            <a:noAutofit/>
          </a:bodyPr>
          <a:lstStyle/>
          <a:p>
            <a:r>
              <a:rPr sz="1600" dirty="0"/>
              <a:t>Majority Restaurant Type</a:t>
            </a:r>
          </a:p>
          <a:p>
            <a:r>
              <a:rPr sz="1600" dirty="0"/>
              <a:t>Votes Received by Restaurant from </a:t>
            </a:r>
            <a:r>
              <a:rPr lang="en-US" sz="1600" dirty="0"/>
              <a:t>Customers </a:t>
            </a:r>
          </a:p>
          <a:p>
            <a:r>
              <a:rPr sz="1600" dirty="0"/>
              <a:t>Majority </a:t>
            </a:r>
            <a:r>
              <a:rPr lang="en-US" sz="1600" dirty="0"/>
              <a:t>Restaurant Ratings </a:t>
            </a:r>
          </a:p>
          <a:p>
            <a:r>
              <a:rPr sz="1600" dirty="0"/>
              <a:t>Number of </a:t>
            </a:r>
            <a:r>
              <a:rPr lang="en-US" sz="1600" dirty="0"/>
              <a:t>Restaurants that Accept Online Orders</a:t>
            </a:r>
            <a:endParaRPr sz="1600" dirty="0"/>
          </a:p>
          <a:p>
            <a:r>
              <a:rPr sz="1600" dirty="0"/>
              <a:t>Couple's Average Spending on Online Orders</a:t>
            </a:r>
          </a:p>
          <a:p>
            <a:r>
              <a:rPr sz="1600" dirty="0"/>
              <a:t>Ratings by Order Mode (Online vs. Offline)</a:t>
            </a:r>
          </a:p>
          <a:p>
            <a:r>
              <a:rPr sz="1600" dirty="0"/>
              <a:t>Offline Order Preferences by Restaurant Type</a:t>
            </a:r>
          </a:p>
          <a:p>
            <a:r>
              <a:rPr sz="1600" dirty="0"/>
              <a:t>Top Locations by Number of Restaurants Online</a:t>
            </a:r>
          </a:p>
          <a:p>
            <a:r>
              <a:rPr sz="1600" dirty="0"/>
              <a:t>Most Popular Cuisines by Total Votes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dirty="0"/>
              <a:t>Majority Restaurant Type</a:t>
            </a:r>
            <a:endParaRPr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529046" y="2351316"/>
            <a:ext cx="5330579" cy="3797557"/>
          </a:xfrm>
        </p:spPr>
        <p:txBody>
          <a:bodyPr>
            <a:normAutofit/>
          </a:bodyPr>
          <a:lstStyle/>
          <a:p>
            <a:r>
              <a:rPr lang="en-US" sz="2000" dirty="0"/>
              <a:t>The chart clearly shows that </a:t>
            </a:r>
            <a:r>
              <a:rPr lang="en-US" sz="2000" b="1" dirty="0"/>
              <a:t>Dining Restaurants</a:t>
            </a:r>
            <a:r>
              <a:rPr lang="en-US" sz="2000" dirty="0"/>
              <a:t> are the most preferred type among customers.</a:t>
            </a:r>
          </a:p>
          <a:p>
            <a:r>
              <a:rPr lang="en-US" sz="2000" dirty="0"/>
              <a:t>The number of Dining restaurants is significantly higher (over 100) compared to other types.</a:t>
            </a:r>
          </a:p>
          <a:p>
            <a:r>
              <a:rPr lang="en-US" sz="2000" dirty="0"/>
              <a:t>Cafes come in second place, while Buffet and Other types have very few orders.</a:t>
            </a:r>
          </a:p>
          <a:p>
            <a:r>
              <a:rPr lang="en-US" sz="2000" dirty="0"/>
              <a:t>Zomato can focus more on Dining outlets for targeted offers and better partnerships to boost customer satisfaction.</a:t>
            </a:r>
          </a:p>
          <a:p>
            <a:endParaRPr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B23C68C-A722-535C-F083-AC36E0D9E3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0962" y="1838131"/>
            <a:ext cx="6106037" cy="480526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Votes Received by Restaurant Type from Customers </a:t>
            </a:r>
            <a:endParaRPr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594360" y="2329960"/>
            <a:ext cx="5909077" cy="4332097"/>
          </a:xfrm>
        </p:spPr>
        <p:txBody>
          <a:bodyPr>
            <a:normAutofit/>
          </a:bodyPr>
          <a:lstStyle/>
          <a:p>
            <a:r>
              <a:rPr lang="en-US" sz="2000" dirty="0"/>
              <a:t>Dining restaurants have received the highest number of votes, crossing 20,000 votes, which indicates a high level of customer engagement and popularity.</a:t>
            </a:r>
          </a:p>
          <a:p>
            <a:r>
              <a:rPr lang="en-US" sz="2000" dirty="0"/>
              <a:t>Cafes follow with a moderate number of votes, showing decent customer attention.</a:t>
            </a:r>
          </a:p>
          <a:p>
            <a:r>
              <a:rPr lang="en-US" sz="2000" dirty="0"/>
              <a:t>Buffet and Other restaurant types have received comparatively very few votes, suggesting lower popularity or fewer customers interacting with those categories.</a:t>
            </a:r>
          </a:p>
          <a:p>
            <a:r>
              <a:rPr lang="en-US" sz="2000" dirty="0"/>
              <a:t>Zomato can leverage this insight by promoting more verified Dining options to attract customer confidence.</a:t>
            </a:r>
            <a:endParaRPr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B2FFB3C-4615-A65E-DAA6-3FAE6AF3E4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4105" y="2099389"/>
            <a:ext cx="5570491" cy="444770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235991-AD51-C33A-AD2C-750888A685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8AA9B-4BF6-24A0-878F-BB3C710531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dirty="0"/>
              <a:t> Majority Restaurants Ratings </a:t>
            </a:r>
            <a:endParaRPr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0E212B-039B-52FD-2862-DBD4E69BD15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4360" y="2329961"/>
            <a:ext cx="5909077" cy="4425402"/>
          </a:xfrm>
        </p:spPr>
        <p:txBody>
          <a:bodyPr>
            <a:normAutofit/>
          </a:bodyPr>
          <a:lstStyle/>
          <a:p>
            <a:r>
              <a:rPr lang="en-US" sz="2000" dirty="0"/>
              <a:t>Most restaurants fall in the 3.5 to 4.0 rating range, indicating that overall food quality and service are above average.</a:t>
            </a:r>
          </a:p>
          <a:p>
            <a:r>
              <a:rPr lang="en-US" sz="2000" dirty="0"/>
              <a:t>Very few restaurants have ratings below 3.0 or above 4.5, showing that customers usually rate restaurants moderately rather than extremely high or low.</a:t>
            </a:r>
          </a:p>
          <a:p>
            <a:r>
              <a:rPr lang="en-US" sz="2000" dirty="0"/>
              <a:t>This distribution suggests that Zomato restaurants maintain a consistent standard, with the majority performing satisfactorily in terms of quality, taste, and delivery.</a:t>
            </a:r>
          </a:p>
          <a:p>
            <a:r>
              <a:rPr lang="en-US" sz="2000" dirty="0"/>
              <a:t>Zomato can focus on helping lower-rated restaurants improve their performance to reach the industry average.</a:t>
            </a:r>
          </a:p>
          <a:p>
            <a:endParaRPr sz="20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C8CD95F-ADC1-AD66-C508-A6CBD6A891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9916" y="1933865"/>
            <a:ext cx="5353050" cy="4333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2830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3E1675-D9C1-6A5E-D804-B20C0B2F15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A3E2EA-E10F-6C52-4284-F804FB59C4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dirty="0"/>
              <a:t> </a:t>
            </a:r>
            <a:r>
              <a:rPr lang="en-US" sz="3200" dirty="0"/>
              <a:t>Number of Restaurant which Accept Online Order</a:t>
            </a:r>
            <a:endParaRPr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412658-2B55-D4A5-5EEC-019A8D372F2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4360" y="2329961"/>
            <a:ext cx="5909077" cy="3511002"/>
          </a:xfrm>
        </p:spPr>
        <p:txBody>
          <a:bodyPr/>
          <a:lstStyle/>
          <a:p>
            <a:r>
              <a:rPr lang="en-US" sz="2000" dirty="0"/>
              <a:t>The bar chart shows that offline restaurants are higher in number compared to those that accept online orders.</a:t>
            </a:r>
          </a:p>
          <a:p>
            <a:r>
              <a:rPr lang="en-US" sz="2000" dirty="0"/>
              <a:t>Around 90+ restaurants operate offline, while about 60 restaurants support online ordering.</a:t>
            </a:r>
          </a:p>
          <a:p>
            <a:r>
              <a:rPr lang="en-US" sz="2000" dirty="0"/>
              <a:t>This means a significant portion of restaurants are still not offering online ordering, which can be seen as a potential area for Zomato’s growth and digital expansion.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C279C75-FEE9-C02C-C01B-95336D9B69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0900" y="2021050"/>
            <a:ext cx="5057775" cy="4476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88096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202400"/>
            <a:ext cx="9338534" cy="1570325"/>
          </a:xfrm>
        </p:spPr>
        <p:txBody>
          <a:bodyPr/>
          <a:lstStyle/>
          <a:p>
            <a:r>
              <a:rPr lang="en-US" sz="3200" dirty="0"/>
              <a:t>Average Spending by Couples on Online Orders</a:t>
            </a:r>
            <a:endParaRPr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594360" y="2329961"/>
            <a:ext cx="5498530" cy="3801598"/>
          </a:xfrm>
        </p:spPr>
        <p:txBody>
          <a:bodyPr/>
          <a:lstStyle/>
          <a:p>
            <a:r>
              <a:rPr sz="2000" dirty="0"/>
              <a:t>Zomato observes that couples predominantly order food online.</a:t>
            </a:r>
          </a:p>
          <a:p>
            <a:r>
              <a:rPr sz="2000" dirty="0"/>
              <a:t>Their average spending per online order is approximately </a:t>
            </a:r>
            <a:r>
              <a:rPr sz="2000" b="1" dirty="0"/>
              <a:t>₹500</a:t>
            </a:r>
            <a:r>
              <a:rPr sz="2000" dirty="0"/>
              <a:t>.</a:t>
            </a:r>
          </a:p>
          <a:p>
            <a:r>
              <a:rPr sz="2000" dirty="0"/>
              <a:t>This spending is notably higher than what might be inferred for offline orders.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A3A72E7-07E7-5199-9A91-7698C69ECA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5961" y="2131079"/>
            <a:ext cx="4048125" cy="37433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Online vs Offline: Highest Ratings Comparison</a:t>
            </a:r>
            <a:endParaRPr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594360" y="2329961"/>
            <a:ext cx="6105020" cy="3801598"/>
          </a:xfrm>
        </p:spPr>
        <p:txBody>
          <a:bodyPr/>
          <a:lstStyle/>
          <a:p>
            <a:r>
              <a:rPr lang="en-US" sz="2000" dirty="0"/>
              <a:t>From the box plot, we can see that online orders consistently have higher ratings than offline orders.</a:t>
            </a:r>
          </a:p>
          <a:p>
            <a:r>
              <a:rPr lang="en-US" sz="2000" dirty="0"/>
              <a:t>The median rating for online mode is around 3.9–4.0, whereas for offline mode, it is around 3.4–3.5.</a:t>
            </a:r>
          </a:p>
          <a:p>
            <a:r>
              <a:rPr lang="en-US" sz="2000" dirty="0"/>
              <a:t>The overall spread (variation) of ratings is also less in online mode, showing more consistent customer satisfaction.</a:t>
            </a:r>
          </a:p>
          <a:p>
            <a:r>
              <a:rPr lang="en-US" sz="2000" dirty="0"/>
              <a:t>A few low-rating outliers exist for both modes, but they don’t affect the overall trend.</a:t>
            </a:r>
            <a:endParaRPr sz="2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B30A022-5113-D222-1026-578FC1BFA8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0049" y="1800807"/>
            <a:ext cx="4917233" cy="49545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dirty="0"/>
              <a:t>Restaurant Type </a:t>
            </a:r>
            <a:r>
              <a:rPr lang="en-US" sz="3200" dirty="0"/>
              <a:t>and</a:t>
            </a:r>
            <a:r>
              <a:rPr sz="3200" dirty="0"/>
              <a:t> Order Mode Preferences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594361" y="2329960"/>
            <a:ext cx="5927738" cy="4444063"/>
          </a:xfrm>
        </p:spPr>
        <p:txBody>
          <a:bodyPr>
            <a:normAutofit/>
          </a:bodyPr>
          <a:lstStyle/>
          <a:p>
            <a:r>
              <a:rPr lang="en-US" sz="2000" dirty="0"/>
              <a:t>The heatmap clearly shows that Dining-type restaurants dominate the offline order segment with 77 offline orders, which is significantly higher than any other category.</a:t>
            </a:r>
          </a:p>
          <a:p>
            <a:r>
              <a:rPr lang="en-US" sz="2000" dirty="0"/>
              <a:t>Cafes and Buffets have relatively fewer offline orders, while Other types remain minimal.</a:t>
            </a:r>
          </a:p>
          <a:p>
            <a:r>
              <a:rPr lang="en-US" sz="2000" dirty="0"/>
              <a:t>This shows that dining restaurants are the most   preferred for offline experiences.</a:t>
            </a:r>
          </a:p>
          <a:p>
            <a:r>
              <a:rPr lang="en-US" sz="2000" dirty="0"/>
              <a:t>Dining restaurants have received the highest number of offline orders, making them the ideal target for offline promotional campaigns and loyalty offers.</a:t>
            </a:r>
            <a:endParaRPr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BD41F3D-5843-D8B9-D6EC-C9713D1542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8258" y="2111148"/>
            <a:ext cx="5048250" cy="43338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dirty="0"/>
              <a:t>Top Restaurant Locations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594360" y="2329961"/>
            <a:ext cx="5405224" cy="3801598"/>
          </a:xfrm>
        </p:spPr>
        <p:txBody>
          <a:bodyPr/>
          <a:lstStyle/>
          <a:p>
            <a:r>
              <a:rPr sz="2000" b="1" dirty="0"/>
              <a:t>Indiranagar, Bandra, and Andheri</a:t>
            </a:r>
            <a:r>
              <a:rPr sz="2000" dirty="0"/>
              <a:t> are the top 3 locations with the highest number of restaurants listed on Zomato.</a:t>
            </a:r>
          </a:p>
          <a:p>
            <a:r>
              <a:rPr sz="2000" dirty="0"/>
              <a:t>These areas are identified as key food hubs, likely due to their popularity and diverse culinary offerings.</a:t>
            </a:r>
            <a:endParaRPr lang="en-US" sz="2000" dirty="0"/>
          </a:p>
          <a:p>
            <a:r>
              <a:rPr lang="en-US" sz="2000" dirty="0"/>
              <a:t>This makes it an ideal location for introducing new marketing campaigns, delivery offers, or premium listings to maximize visibility and sales.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FABE4AE-85F3-BDE3-543E-0F7994A602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4470" y="2183362"/>
            <a:ext cx="5929341" cy="436672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dirty="0"/>
              <a:t>Most Popular Cuisines by Total Votes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594360" y="2329961"/>
            <a:ext cx="5722464" cy="3801598"/>
          </a:xfrm>
        </p:spPr>
        <p:txBody>
          <a:bodyPr/>
          <a:lstStyle/>
          <a:p>
            <a:r>
              <a:rPr sz="2000" b="1" dirty="0"/>
              <a:t>Street Food</a:t>
            </a:r>
            <a:r>
              <a:rPr sz="2000" dirty="0"/>
              <a:t> and </a:t>
            </a:r>
            <a:r>
              <a:rPr sz="2000" b="1" dirty="0"/>
              <a:t>North Indian</a:t>
            </a:r>
            <a:r>
              <a:rPr sz="2000" dirty="0"/>
              <a:t> cuisines received the highest number of votes.</a:t>
            </a:r>
          </a:p>
          <a:p>
            <a:r>
              <a:rPr sz="2000" dirty="0"/>
              <a:t>This indicates that these cuisines are the most popular and frequently ordered among Zomato users.</a:t>
            </a:r>
            <a:endParaRPr lang="en-US" sz="2000" dirty="0"/>
          </a:p>
          <a:p>
            <a:r>
              <a:rPr lang="en-US" sz="2000" dirty="0"/>
              <a:t>These categories could be the best focus for marketing campaigns, combo offers, or restaurant partnerships to maximize engagement and sales.</a:t>
            </a:r>
            <a:endParaRPr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8C2054-E6FC-BB7D-9D80-9BF26E4560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6195" y="2011718"/>
            <a:ext cx="5862637" cy="457569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AD7549-EA54-57ED-B374-AB6F4B829C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7D89B7-529E-6078-C516-1259E8B720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494522"/>
            <a:ext cx="10972800" cy="1278203"/>
          </a:xfrm>
        </p:spPr>
        <p:txBody>
          <a:bodyPr/>
          <a:lstStyle/>
          <a:p>
            <a:r>
              <a:rPr lang="en-US" sz="3200" dirty="0"/>
              <a:t>Conclusion						Future Scope</a:t>
            </a:r>
            <a:endParaRPr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F14A97-C16B-9978-17FA-26A022CE7B4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4360" y="2329961"/>
            <a:ext cx="5311918" cy="3801598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sz="2000" dirty="0"/>
              <a:t>The overall analysis of Zomato restaurant data shows that customers highly prefer Dining restaurants, followed by Cafes and Street Food outlets.</a:t>
            </a:r>
          </a:p>
          <a:p>
            <a:pPr algn="just"/>
            <a:r>
              <a:rPr lang="en-US" sz="2000" dirty="0"/>
              <a:t>Most restaurants maintain ratings between 3.5–4.0, indicating good customer satisfaction.</a:t>
            </a:r>
          </a:p>
          <a:p>
            <a:pPr algn="just"/>
            <a:r>
              <a:rPr lang="en-US" sz="2000" dirty="0"/>
              <a:t>Online orders are increasing in popularity and receive higher ratings than offline ones, showing the growing reliability of Zomato’s delivery system.</a:t>
            </a:r>
          </a:p>
          <a:p>
            <a:pPr algn="just"/>
            <a:r>
              <a:rPr lang="en-US" sz="2000" dirty="0"/>
              <a:t>Overall, Zomato’s platform demonstrates consistent performance, strong customer engagement, and significant potential in expanding its online service reach.</a:t>
            </a:r>
            <a:endParaRPr sz="20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E76ADDB-652E-B638-9CB3-81FC0801E130}"/>
              </a:ext>
            </a:extLst>
          </p:cNvPr>
          <p:cNvSpPr txBox="1">
            <a:spLocks/>
          </p:cNvSpPr>
          <p:nvPr/>
        </p:nvSpPr>
        <p:spPr>
          <a:xfrm>
            <a:off x="6503751" y="2323734"/>
            <a:ext cx="5311918" cy="38015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2000" dirty="0"/>
              <a:t>Expand partnerships with small and mid-level restaurants to boost online adoption.</a:t>
            </a:r>
          </a:p>
          <a:p>
            <a:pPr algn="just"/>
            <a:r>
              <a:rPr lang="en-US" sz="2000" dirty="0"/>
              <a:t>Implement AI-based recommendations to improve user experience and personalized offers.</a:t>
            </a:r>
          </a:p>
          <a:p>
            <a:pPr algn="just"/>
            <a:r>
              <a:rPr lang="en-US" sz="2000" dirty="0"/>
              <a:t>Use data analytics to identify emerging food trends and plan targeted marketing campaigns.</a:t>
            </a:r>
          </a:p>
          <a:p>
            <a:pPr algn="just"/>
            <a:r>
              <a:rPr lang="en-US" sz="2000" dirty="0"/>
              <a:t>Encourage low-rated restaurants through training, customer feedback tracking, and rating improvement programs.</a:t>
            </a:r>
          </a:p>
        </p:txBody>
      </p:sp>
    </p:spTree>
    <p:extLst>
      <p:ext uri="{BB962C8B-B14F-4D97-AF65-F5344CB8AC3E}">
        <p14:creationId xmlns:p14="http://schemas.microsoft.com/office/powerpoint/2010/main" val="15479285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4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13C85B-7F81-70C3-1DB2-63457745F9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Thank you Images - Free Download on Freepik">
            <a:extLst>
              <a:ext uri="{FF2B5EF4-FFF2-40B4-BE49-F238E27FC236}">
                <a16:creationId xmlns:a16="http://schemas.microsoft.com/office/drawing/2014/main" id="{A2C11E59-4639-89DD-9644-3F44B110D5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007" y="756168"/>
            <a:ext cx="11265547" cy="5458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295034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Custom">
  <a:themeElements>
    <a:clrScheme name="Swiss">
      <a:dk1>
        <a:srgbClr val="000000"/>
      </a:dk1>
      <a:lt1>
        <a:srgbClr val="FFFFFF"/>
      </a:lt1>
      <a:dk2>
        <a:srgbClr val="E4E4E4"/>
      </a:dk2>
      <a:lt2>
        <a:srgbClr val="7CA655"/>
      </a:lt2>
      <a:accent1>
        <a:srgbClr val="A9D4DB"/>
      </a:accent1>
      <a:accent2>
        <a:srgbClr val="FBE284"/>
      </a:accent2>
      <a:accent3>
        <a:srgbClr val="4495A2"/>
      </a:accent3>
      <a:accent4>
        <a:srgbClr val="AA5881"/>
      </a:accent4>
      <a:accent5>
        <a:srgbClr val="E06742"/>
      </a:accent5>
      <a:accent6>
        <a:srgbClr val="F9D448"/>
      </a:accent6>
      <a:hlink>
        <a:srgbClr val="4495A2"/>
      </a:hlink>
      <a:folHlink>
        <a:srgbClr val="AA5881"/>
      </a:folHlink>
    </a:clrScheme>
    <a:fontScheme name="Custom 175">
      <a:majorFont>
        <a:latin typeface="Franklin Gothic Demi"/>
        <a:ea typeface=""/>
        <a:cs typeface=""/>
      </a:majorFont>
      <a:minorFont>
        <a:latin typeface="Franklin Gothic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78853419_Win32_SL_V5" id="{958D2C9E-948D-4354-BF9D-DF8AE3C2B240}" vid="{22D4A967-05D2-4D72-8594-54CFF341483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A8A8ECD1-788F-484B-9043-D957FCFDF1F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6D24F1A-6251-4B9A-A918-7D6F3A8F7E2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A0FE134-9032-4C7F-BC57-C7DE3F833363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358</TotalTime>
  <Words>857</Words>
  <Application>Microsoft Office PowerPoint</Application>
  <PresentationFormat>Widescreen</PresentationFormat>
  <Paragraphs>63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Franklin Gothic Book</vt:lpstr>
      <vt:lpstr>Franklin Gothic Demi</vt:lpstr>
      <vt:lpstr>Custom</vt:lpstr>
      <vt:lpstr>Zomato Restaurants Analysis</vt:lpstr>
      <vt:lpstr>Presentation Agenda</vt:lpstr>
      <vt:lpstr>Majority Restaurant Type</vt:lpstr>
      <vt:lpstr>Votes Received by Restaurant Type from Customers </vt:lpstr>
      <vt:lpstr> Majority Restaurants Ratings </vt:lpstr>
      <vt:lpstr> Number of Restaurant which Accept Online Order</vt:lpstr>
      <vt:lpstr>Average Spending by Couples on Online Orders</vt:lpstr>
      <vt:lpstr>Online vs Offline: Highest Ratings Comparison</vt:lpstr>
      <vt:lpstr>Restaurant Type and Order Mode Preferences</vt:lpstr>
      <vt:lpstr>Top Restaurant Locations</vt:lpstr>
      <vt:lpstr>Most Popular Cuisines by Total Votes</vt:lpstr>
      <vt:lpstr>Conclusion      Future Scope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Ashish Singh</dc:creator>
  <cp:lastModifiedBy>Akhilesh Yadav</cp:lastModifiedBy>
  <cp:revision>31</cp:revision>
  <dcterms:created xsi:type="dcterms:W3CDTF">2023-12-20T08:12:12Z</dcterms:created>
  <dcterms:modified xsi:type="dcterms:W3CDTF">2025-12-29T10:13:08Z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